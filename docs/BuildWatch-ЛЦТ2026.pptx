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6.png"/><Relationship Id="rId3" Type="http://schemas.openxmlformats.org/officeDocument/2006/relationships/image" Target="../media/image8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BUILDWATCH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  <p:txBody>
          <a:bodyPr/>
          <a:p>
            <a:r>
              <a:t>Снимок → план → сигнал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Сервис контроля стройплощадок Москвы · ЛЦТ 2026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План, детекция и правила дают объяснение каждого сигнала.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[ФИО, специальность]</a:t>
            </a:r>
            <a:r>
              <a:rPr lang="ru-RU" dirty="0">
                <a:solidFill>
                  <a:schemeClr val="tx1"/>
                </a:solidFill>
              </a:rPr>
              <a:t/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[заполнить]</a:t>
            </a:r>
            <a:r>
              <a:rPr lang="ru-RU" dirty="0">
                <a:solidFill>
                  <a:schemeClr val="tx1"/>
                </a:solidFill>
              </a:rPr>
              <a:t/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История команды: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работы/учёбы: [заполнить]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[заполнить]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BUILDWATCH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Снимок и этап работ превращаются в проверяемый сигнал инспектору.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 · ЗАПОЛНИТЬ ПЕРЕД СДАЧЕЙ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ВЫЗОВАХ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[Как собралась команда и какие проекты делала вместе]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Мелкая техника и разные ракурсы осложняют детекцию.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Для оценки модели нужен размеченный московский набор.</a:t>
            </a:r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Камеры дают регулярные наблюдения, которые можно сверять с планом.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Next.js → FastAPI → очередь → YOLO. Правила R-01/R-02/R-03/R-07 сверяют технику с этапом. Инспектор подтверждает или отклоняет сигнал.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Пилот на объектах: несколько камер, калибровка правил и размеченный тест. Затем — интеграция с календарными графиками и отчётностью.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06984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1">
                <a:solidFill>
                  <a:srgbClr val="8A83D1"/>
                </a:solidFill>
                <a:latin typeface="Arial"/>
              </a:rPr>
              <a:t>АРХИТЕКТУРА ПО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100" b="1">
                <a:solidFill>
                  <a:srgbClr val="310F53"/>
                </a:solidFill>
                <a:latin typeface="Arial"/>
              </a:rPr>
              <a:t>От снимка до решения инспектора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0">
                <a:solidFill>
                  <a:srgbClr val="8A83D1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2331720" cy="1993392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267712"/>
            <a:ext cx="576072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600" b="1">
                <a:solidFill>
                  <a:srgbClr val="FF0053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898648"/>
            <a:ext cx="20116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КАМЕРА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374136"/>
            <a:ext cx="201168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500" b="0">
                <a:solidFill>
                  <a:srgbClr val="1C1D22"/>
                </a:solidFill>
                <a:latin typeface="Arial"/>
              </a:rPr>
              <a:t>Снимок + время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34056"/>
            <a:ext cx="338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700" b="1">
                <a:solidFill>
                  <a:srgbClr val="FF0053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057400"/>
            <a:ext cx="2331720" cy="1993392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267712"/>
            <a:ext cx="576072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600" b="1">
                <a:solidFill>
                  <a:srgbClr val="FF0053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8456" y="2898648"/>
            <a:ext cx="20116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3374136"/>
            <a:ext cx="201168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500" b="0">
                <a:solidFill>
                  <a:srgbClr val="1C1D22"/>
                </a:solidFill>
                <a:latin typeface="Arial"/>
              </a:rPr>
              <a:t>FastAPI + БД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79" y="2734056"/>
            <a:ext cx="338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700" b="1">
                <a:solidFill>
                  <a:srgbClr val="FF0053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057400"/>
            <a:ext cx="2331720" cy="1993392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267712"/>
            <a:ext cx="576072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600" b="1">
                <a:solidFill>
                  <a:srgbClr val="FF0053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898648"/>
            <a:ext cx="20116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CV WORKER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3374136"/>
            <a:ext cx="201168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500" b="0">
                <a:solidFill>
                  <a:srgbClr val="1C1D22"/>
                </a:solidFill>
                <a:latin typeface="Arial"/>
              </a:rPr>
              <a:t>YOLO + очередь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734056"/>
            <a:ext cx="338328" cy="42062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700" b="1">
                <a:solidFill>
                  <a:srgbClr val="FF0053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057400"/>
            <a:ext cx="2331720" cy="1993392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9176" y="2267712"/>
            <a:ext cx="576072" cy="4846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600" b="1">
                <a:solidFill>
                  <a:srgbClr val="FF0053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2898648"/>
            <a:ext cx="20116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ИНСПЕКТОР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9176" y="3374136"/>
            <a:ext cx="201168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500" b="0">
                <a:solidFill>
                  <a:srgbClr val="1C1D22"/>
                </a:solidFill>
                <a:latin typeface="Arial"/>
              </a:rPr>
              <a:t>Next.js + отчёт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90672" y="4608576"/>
            <a:ext cx="5925312" cy="704088"/>
          </a:xfrm>
          <a:prstGeom prst="round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28416" y="4818888"/>
            <a:ext cx="548640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Этап плана + правила R-01 / R-02 / R-03 / R-07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934456"/>
            <a:ext cx="106070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Сигнал содержит причину и остаётся на проверку человеком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06984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1">
                <a:solidFill>
                  <a:srgbClr val="8A83D1"/>
                </a:solidFill>
                <a:latin typeface="Arial"/>
              </a:rPr>
              <a:t>СКРИНШОТЫ СИНТЕТИЧЕСКОГО ДЕМО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100" b="1">
                <a:solidFill>
                  <a:srgbClr val="310F53"/>
                </a:solidFill>
                <a:latin typeface="Arial"/>
              </a:rPr>
              <a:t>Прототип: портфель и карточка объекта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0">
                <a:solidFill>
                  <a:srgbClr val="8A83D1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synthetic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82496"/>
            <a:ext cx="5413248" cy="3383280"/>
          </a:xfrm>
          <a:prstGeom prst="rect">
            <a:avLst/>
          </a:prstGeom>
        </p:spPr>
      </p:pic>
      <p:pic>
        <p:nvPicPr>
          <p:cNvPr id="7" name="Picture 6" descr="synthetic-ob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82496"/>
            <a:ext cx="5413248" cy="2518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" y="5696712"/>
            <a:ext cx="521208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Объекты · сигналы · снимки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1656" y="5696712"/>
            <a:ext cx="5257800" cy="3474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Этап · ожидаемая техника · вывод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6291072"/>
            <a:ext cx="1069848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100" b="0">
                <a:solidFill>
                  <a:srgbClr val="8A83D1"/>
                </a:solidFill>
                <a:latin typeface="Arial"/>
              </a:rPr>
              <a:t>Снимки экрана сделаны на синтетических данных; кадры ДГП не показаны.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06984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1">
                <a:solidFill>
                  <a:srgbClr val="8A83D1"/>
                </a:solidFill>
                <a:latin typeface="Arial"/>
              </a:rPr>
              <a:t>ОБУЧЕНИЕ CV МОДЕЛИ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100" b="1">
                <a:solidFill>
                  <a:srgbClr val="310F53"/>
                </a:solidFill>
                <a:latin typeface="Arial"/>
              </a:rPr>
              <a:t>Результат и границы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0">
                <a:solidFill>
                  <a:srgbClr val="8A83D1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965960"/>
            <a:ext cx="1828800" cy="12344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6600" b="1">
                <a:solidFill>
                  <a:srgbClr val="310F53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2743200" cy="685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900" b="0">
                <a:solidFill>
                  <a:srgbClr val="1C1D22"/>
                </a:solidFill>
                <a:latin typeface="Arial"/>
              </a:rPr>
              <a:t>целевых классов
техники по ТЗ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7952" y="1965960"/>
            <a:ext cx="3383280" cy="12344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5800" b="1">
                <a:solidFill>
                  <a:srgbClr val="FF0053"/>
                </a:solidFill>
                <a:latin typeface="Arial"/>
              </a:rPr>
              <a:t>0,836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3246120"/>
            <a:ext cx="3383280" cy="6858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900" b="0">
                <a:solidFill>
                  <a:srgbClr val="1C1D22"/>
                </a:solidFill>
                <a:latin typeface="Arial"/>
              </a:rPr>
              <a:t>mAP@50 v11 после 3 эпох
на внешнем holdout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65592" y="1901952"/>
            <a:ext cx="3447288" cy="2350008"/>
          </a:xfrm>
          <a:prstGeom prst="round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1920240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900" b="1">
                <a:solidFill>
                  <a:srgbClr val="FFFFFF"/>
                </a:solidFill>
                <a:latin typeface="Arial"/>
              </a:rPr>
              <a:t>v6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3081528"/>
            <a:ext cx="2798064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900" b="0">
                <a:solidFill>
                  <a:srgbClr val="FFFFFF"/>
                </a:solidFill>
                <a:latin typeface="Arial"/>
              </a:rPr>
              <a:t>локально подключена
к прототипу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892040"/>
            <a:ext cx="10835640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000" b="1">
                <a:solidFill>
                  <a:srgbClr val="310F53"/>
                </a:solidFill>
                <a:latin typeface="Arial"/>
              </a:rPr>
              <a:t>v11 продолжает обучение отдельно; это ещё не оценка рабочего прототипа.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577840"/>
            <a:ext cx="1083564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600" b="0">
                <a:solidFill>
                  <a:srgbClr val="1C1D22"/>
                </a:solidFill>
                <a:latin typeface="Arial"/>
              </a:rPr>
              <a:t>Ранняя v2: mAP@50 0,786. Для v6 нужен размеченный тест на московских камерах.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06984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1">
                <a:solidFill>
                  <a:srgbClr val="FF0053"/>
                </a:solidFill>
                <a:latin typeface="Arial"/>
              </a:rPr>
              <a:t>УПРАВЛЕНИЕ ЧЕРЕЗ 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Arial"/>
              </a:rPr>
              <a:t>«Спросить BuildWatch» помогает инспектору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47088"/>
            <a:ext cx="4919472" cy="36210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57984"/>
            <a:ext cx="4343400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100" b="1">
                <a:solidFill>
                  <a:srgbClr val="310F53"/>
                </a:solidFill>
                <a:latin typeface="Arial"/>
              </a:rPr>
              <a:t>Вопрос на естественном языке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1832" y="2916936"/>
            <a:ext cx="4343400" cy="960120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3136392"/>
            <a:ext cx="3977639" cy="57607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0">
                <a:solidFill>
                  <a:srgbClr val="1C1D22"/>
                </a:solidFill>
                <a:latin typeface="Arial"/>
              </a:rPr>
              <a:t>Что происходит на объекте и
почему выдан сигнал?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063240"/>
            <a:ext cx="502920" cy="56692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400" b="1">
                <a:solidFill>
                  <a:srgbClr val="FF0053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9088" y="1847088"/>
            <a:ext cx="5102352" cy="362102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157984"/>
            <a:ext cx="4526280" cy="4663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100" b="1">
                <a:solidFill>
                  <a:srgbClr val="310F53"/>
                </a:solidFill>
                <a:latin typeface="Arial"/>
              </a:rPr>
              <a:t>Ответ с опорой на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926080"/>
            <a:ext cx="4416552" cy="49377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700" b="0">
                <a:solidFill>
                  <a:srgbClr val="1C1D22"/>
                </a:solidFill>
                <a:latin typeface="Arial"/>
              </a:rPr>
              <a:t>План · снимки · детекции · правила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776472"/>
            <a:ext cx="4325112" cy="9601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700" b="1">
                <a:solidFill>
                  <a:srgbClr val="310F53"/>
                </a:solidFill>
                <a:latin typeface="Arial"/>
              </a:rPr>
              <a:t>Действия с данными требуют подтверждения пользователя.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6007608"/>
            <a:ext cx="10789920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ИИ объясняет и предлагает действия; решение о нарушении принимает инспектор.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106984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1">
                <a:solidFill>
                  <a:srgbClr val="8A83D1"/>
                </a:solidFill>
                <a:latin typeface="Arial"/>
              </a:rPr>
              <a:t>СЛЕДУЮЩИЙ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315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3100" b="1">
                <a:solidFill>
                  <a:srgbClr val="310F53"/>
                </a:solidFill>
                <a:latin typeface="Arial"/>
              </a:rPr>
              <a:t>Пилот на московских камерах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4114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000" b="0">
                <a:solidFill>
                  <a:srgbClr val="8A83D1"/>
                </a:solidFill>
                <a:latin typeface="Arial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48840"/>
            <a:ext cx="3291840" cy="2834640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450592"/>
            <a:ext cx="1280160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4500" b="1">
                <a:solidFill>
                  <a:srgbClr val="FF0053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493008"/>
            <a:ext cx="2834640" cy="4754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300" b="1">
                <a:solidFill>
                  <a:srgbClr val="310F53"/>
                </a:solidFill>
                <a:latin typeface="Arial"/>
              </a:rPr>
              <a:t>Разметка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4160520"/>
            <a:ext cx="283464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700" b="0">
                <a:solidFill>
                  <a:srgbClr val="310F53"/>
                </a:solidFill>
                <a:latin typeface="Arial"/>
              </a:rPr>
              <a:t>Тест по 8 классам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48840"/>
            <a:ext cx="3291840" cy="2834640"/>
          </a:xfrm>
          <a:prstGeom prst="roundRect">
            <a:avLst/>
          </a:prstGeom>
          <a:solidFill>
            <a:srgbClr val="310F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450592"/>
            <a:ext cx="1280160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4500" b="1">
                <a:solidFill>
                  <a:srgbClr val="FF0053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493008"/>
            <a:ext cx="2834640" cy="4754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300" b="1">
                <a:solidFill>
                  <a:srgbClr val="FFFFFF"/>
                </a:solidFill>
                <a:latin typeface="Arial"/>
              </a:rPr>
              <a:t>Калибровка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160520"/>
            <a:ext cx="283464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700" b="0">
                <a:solidFill>
                  <a:srgbClr val="FFFFFF"/>
                </a:solidFill>
                <a:latin typeface="Arial"/>
              </a:rPr>
              <a:t>Ракурсы и пороги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39327" y="2148840"/>
            <a:ext cx="3291840" cy="2834640"/>
          </a:xfrm>
          <a:prstGeom prst="roundRect">
            <a:avLst/>
          </a:prstGeom>
          <a:solidFill>
            <a:srgbClr val="F9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67928" y="2450592"/>
            <a:ext cx="1280160" cy="7589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4500" b="1">
                <a:solidFill>
                  <a:srgbClr val="FF0053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3493008"/>
            <a:ext cx="2834640" cy="4754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2300" b="1">
                <a:solidFill>
                  <a:srgbClr val="310F53"/>
                </a:solidFill>
                <a:latin typeface="Arial"/>
              </a:rPr>
              <a:t>Интеграция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67928" y="4160520"/>
            <a:ext cx="2834640" cy="3931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700" b="0">
                <a:solidFill>
                  <a:srgbClr val="310F53"/>
                </a:solidFill>
                <a:latin typeface="Arial"/>
              </a:rPr>
              <a:t>Планы и отчёты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34456"/>
            <a:ext cx="10652760" cy="38404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r>
              <a:rPr sz="1800" b="1">
                <a:solidFill>
                  <a:srgbClr val="310F53"/>
                </a:solidFill>
                <a:latin typeface="Arial"/>
              </a:rPr>
              <a:t>Один кадр даёт повод проверить. Несколько ракурсов и план дают контекст.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BuildWatch — ЛЦТ 2026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  <dc:subject>Автоматизированный контроль строительных площадок</dc:subject>
</cp:coreProperties>
</file>