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ontserrat"/>
              </a:rPr>
              <a:t>BUILDWATCH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74066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600" b="1">
                <a:solidFill>
                  <a:srgbClr val="FFD6E4"/>
                </a:solidFill>
                <a:latin typeface="Montserrat"/>
              </a:rPr>
              <a:t>Снимок. План. Сигнал.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7040880" cy="12801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Montserrat"/>
              </a:rPr>
              <a:t>Автоматизированный контроль строительных площадок Москвы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640080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ЛЦТ 2026 · задача ДГП Москвы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56616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Montserrat"/>
              </a:rPr>
              <a:t>ПРОТОТИП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КОРОТКО О РЕШЕНИИ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Задача и 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394960" cy="356616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93976"/>
            <a:ext cx="49377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7"/>
            <a:ext cx="4937760" cy="2651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Ручной просмотр камер и сверка с календарным планом занимают время и не дают своевременных сигналов.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440680" cy="356616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9397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24327"/>
            <a:ext cx="4983480" cy="2651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BuildWatch связывает датированный снимок, обнаруженную технику и этап работ. Правила формируют объяснимый сигнал инспектору.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25312"/>
            <a:ext cx="10789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Один кадр — повод для проверки, а не доказательство простоя.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ОБЯЗАТЕЛЬНЫЙ БЛОК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Команда и 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411480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502920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Команда BuildWatch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029200" cy="3200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Капитан: [ФИО, специальность]
Участники и роли: [заполнить]
Город, организация: [заполнить]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40680" cy="411480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Контакт для жюри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983480" cy="3200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Имя: [заполнить]
Почта: [заполнить]
Телефон / мессенджер: [заполнить]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ОБЯЗАТЕЛЬНЫЙ БЛОК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Суть и уникальность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529584" cy="352044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93976"/>
            <a:ext cx="3072384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Проверка по плану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7"/>
            <a:ext cx="3072384" cy="2606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Справочник работ ЛТЦ задаёт виды этапов; даты берутся из отдельного календарного плана объекта.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74519"/>
            <a:ext cx="3529584" cy="352044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93976"/>
            <a:ext cx="3072384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Проверяемый вывод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24327"/>
            <a:ext cx="3072384" cy="2606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У каждого сигнала есть правило, объяснение, снимок и возможность подтвердить или отклонить вывод.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529584" cy="352044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93976"/>
            <a:ext cx="3072384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Честная неопределённость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24327"/>
            <a:ext cx="3072384" cy="2606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Ошибка детектора, закрытая зона камеры или неполный график не маскируются под доказанное нарушение.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КОМАНДА И ВЫЗОВЫ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Почему эта задача и что было сложно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40680" cy="379476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Мотивация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983480" cy="28803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Камеры уже дают регулярные наблюдения. Связь снимка с планом может ускорить проверку объектов инспектором.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40680" cy="379476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Вызовы разработки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983480" cy="28803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Разные ракурсы и мелкая техника; неоднозначные классы; справочник ЛТЦ без календарных дат; отсутствие официальной разметки для проверки модели.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092708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600" b="1">
                <a:solidFill>
                  <a:srgbClr val="FF0053"/>
                </a:solidFill>
                <a:latin typeface="Montserrat"/>
              </a:rPr>
              <a:t>Команда разделила план, детекцию и правила, а спорные выводы передала на проверку человеку.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ПРОТОТИП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Что уже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547872" cy="1572768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8775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310F53"/>
                </a:solidFill>
                <a:latin typeface="Montserrat"/>
              </a:rPr>
              <a:t>Объекты и план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47872" cy="1572768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2996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58775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310F53"/>
                </a:solidFill>
                <a:latin typeface="Montserrat"/>
              </a:rPr>
              <a:t>Загрузка снимка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874519"/>
            <a:ext cx="3547872" cy="1572768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202996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58775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ontserrat"/>
              </a:rPr>
              <a:t>Очередь и детекция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547872" cy="1572768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0448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6227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ontserrat"/>
              </a:rPr>
              <a:t>Правила отклонений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749039"/>
            <a:ext cx="3547872" cy="1572768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90448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46227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310F53"/>
                </a:solidFill>
                <a:latin typeface="Montserrat"/>
              </a:rPr>
              <a:t>Проверка инспектором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9016" y="3749039"/>
            <a:ext cx="3547872" cy="1572768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3904487"/>
            <a:ext cx="566928" cy="4023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100" b="1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462272"/>
            <a:ext cx="3136392" cy="5852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900" b="1">
                <a:solidFill>
                  <a:srgbClr val="310F53"/>
                </a:solidFill>
                <a:latin typeface="Montserrat"/>
              </a:rPr>
              <a:t>Отчёт объекта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СВЯЗЬ СНИМКА И ГРАФИКА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От камеры до сигнала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21408"/>
            <a:ext cx="2587752" cy="2889504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0863"/>
            <a:ext cx="2130552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Снимок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71215"/>
            <a:ext cx="2130552" cy="197510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ID объекта
дата и время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6" y="3218688"/>
            <a:ext cx="256032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200" b="1">
                <a:solidFill>
                  <a:srgbClr val="FF0053"/>
                </a:solidFill>
                <a:latin typeface="Montserra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2121408"/>
            <a:ext cx="2587752" cy="2889504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340863"/>
            <a:ext cx="2130552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Детекция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871215"/>
            <a:ext cx="2130552" cy="197510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класс · рамка
уверенность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18688"/>
            <a:ext cx="256032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200" b="1">
                <a:solidFill>
                  <a:srgbClr val="FF0053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21408"/>
            <a:ext cx="2587752" cy="2889504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340863"/>
            <a:ext cx="2130552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План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871215"/>
            <a:ext cx="2130552" cy="197510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этап на дату
ожидаемые классы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3218688"/>
            <a:ext cx="256032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200" b="1">
                <a:solidFill>
                  <a:srgbClr val="FF0053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1432" y="2121408"/>
            <a:ext cx="2587752" cy="2889504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340863"/>
            <a:ext cx="2130552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Правило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871215"/>
            <a:ext cx="2130552" cy="197510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R-01 / R-02
R-03 / R-07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05272"/>
            <a:ext cx="1106424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700" b="0">
                <a:solidFill>
                  <a:srgbClr val="310F53"/>
                </a:solidFill>
                <a:latin typeface="Montserrat"/>
              </a:rPr>
              <a:t>Если детекция ещё выполняется или завершилась ошибкой, отсутствие техники не выводится.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ТЕХНИЧЕСКАЯ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474720" cy="338328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301752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017520" cy="2468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Портфель, карточка, план, снимки, рамки и отчёт.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20240"/>
            <a:ext cx="3474720" cy="338328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39696"/>
            <a:ext cx="301752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FastAPI + БД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70048"/>
            <a:ext cx="3017520" cy="2468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API, валидация, SQLite для демо и схема PostgreSQL.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1920240"/>
            <a:ext cx="3474720" cy="338328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2139696"/>
            <a:ext cx="301752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Worker + YOLO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2670048"/>
            <a:ext cx="3017520" cy="2468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Очередь, локальный инференс, детекции и пересчёт правил.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5733288"/>
            <a:ext cx="10881360" cy="4297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0053"/>
                </a:solidFill>
                <a:latin typeface="Montserrat"/>
              </a:rPr>
              <a:t>Разделение API и инференса сохраняет отзывчивость интерфейса.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ПРАВИЛА И ОБЪЯСНИМОСТЬ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Методика предупреждений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40680" cy="1719072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R-01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983480" cy="804671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Лишняя для этапа техника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40680" cy="1719072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R-02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983480" cy="804671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Низкая уверенность / конфликт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22191"/>
            <a:ext cx="5440680" cy="1719072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R-03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983480" cy="804671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Нет обязательной техники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22191"/>
            <a:ext cx="5440680" cy="1719072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41648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R-07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983480" cy="804671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Кран на фасадном этапе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1088136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600" b="0">
                <a:solidFill>
                  <a:srgbClr val="310F53"/>
                </a:solidFill>
                <a:latin typeface="Montserrat"/>
              </a:rPr>
              <a:t>Для котлована ожидаются экскаватор и самосвал. Сигнал остаётся предметом проверки.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Прототип в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7406640" cy="4526280"/>
          </a:xfrm>
          <a:prstGeom prst="roundRect">
            <a:avLst/>
          </a:prstGeom>
          <a:solidFill>
            <a:srgbClr val="F7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667512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700" b="1">
                <a:solidFill>
                  <a:srgbClr val="310F53"/>
                </a:solidFill>
                <a:latin typeface="Montserrat"/>
              </a:rPr>
              <a:t>ЖК «Северный» · демонстрационный объект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993392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15768"/>
            <a:ext cx="1554480" cy="30175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100" b="1">
                <a:solidFill>
                  <a:srgbClr val="8A83D1"/>
                </a:solidFill>
                <a:latin typeface="Montserrat"/>
              </a:rPr>
              <a:t>ПЛАН РАБОТ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91256"/>
            <a:ext cx="1673352" cy="215798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400" b="0">
                <a:solidFill>
                  <a:srgbClr val="1C1D22"/>
                </a:solidFill>
                <a:latin typeface="Montserrat"/>
              </a:rPr>
              <a:t>1  Подготовка
2  Котлован
3  Каркас
4  Фасад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514600"/>
            <a:ext cx="2944368" cy="3246120"/>
          </a:xfrm>
          <a:prstGeom prst="roundRect">
            <a:avLst/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715768"/>
            <a:ext cx="256032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100" b="1">
                <a:solidFill>
                  <a:srgbClr val="310F53"/>
                </a:solidFill>
                <a:latin typeface="Montserrat"/>
              </a:rPr>
              <a:t>СИНТЕТИЧЕСКИЙ КАДР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767328"/>
            <a:ext cx="1097280" cy="786384"/>
          </a:xfrm>
          <a:prstGeom prst="roundRect">
            <a:avLst/>
          </a:prstGeom>
          <a:solidFill>
            <a:srgbClr val="8A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4123944"/>
            <a:ext cx="786384" cy="420624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4983480"/>
            <a:ext cx="2487168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200" b="1">
                <a:solidFill>
                  <a:srgbClr val="310F53"/>
                </a:solidFill>
                <a:latin typeface="Montserrat"/>
              </a:rPr>
              <a:t>экскаватор · 0,83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2514600"/>
            <a:ext cx="16002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15768"/>
            <a:ext cx="1243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100" b="1">
                <a:solidFill>
                  <a:srgbClr val="8A83D1"/>
                </a:solidFill>
                <a:latin typeface="Montserrat"/>
              </a:rPr>
              <a:t>СИГНАЛ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36392"/>
            <a:ext cx="1234440" cy="22402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300" b="1">
                <a:solidFill>
                  <a:srgbClr val="310F53"/>
                </a:solidFill>
                <a:latin typeface="Montserrat"/>
              </a:rPr>
              <a:t>R-03
Не виден
самосвал
Проверить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874519"/>
            <a:ext cx="3511296" cy="3950208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93976"/>
            <a:ext cx="3054096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Карточка объекта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24327"/>
            <a:ext cx="3054096" cy="30358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Слева — этапы плана. В центре — изображение и рамки модели. Справа — сигналы. На схеме использованы синтетические данные.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ОЦЕНКА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Данные и ограничения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40680" cy="384048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983480" cy="2926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8 целевых классов ТЗ. Снимки ДГП не являются размеченным официальным тестом. Внешние наборы имеют разные лицензии и домены.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40680" cy="384048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Оценка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983480" cy="2926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Ранняя equipment_v2: mAP@50 = 0,786 на внешнем holdout. Для текущих весов v6 нужна отдельная замороженная оценка по всем классам на московских камерах.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092708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700" b="1">
                <a:solidFill>
                  <a:srgbClr val="FF0053"/>
                </a:solidFill>
                <a:latin typeface="Montserrat"/>
              </a:rPr>
              <a:t>Метрики другой модели или другого набора не переносятся на текущий прототип.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8A83D1"/>
                </a:solidFill>
                <a:latin typeface="Montserrat"/>
              </a:rPr>
              <a:t>РЕКОМЕНДАЦИИ ДЛЯ ПЛОЩАДКИ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310F53"/>
                </a:solidFill>
                <a:latin typeface="Montserrat"/>
              </a:rPr>
              <a:t>Камеры: условия достоверности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8A83D1"/>
                </a:solidFill>
                <a:latin typeface="Montserrat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40680" cy="178308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Размещение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9834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Несколько фиксированных ракурсов: рабочие зоны и маршруты техники, минимум перекрытий.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40680" cy="178308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4825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Качество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9834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Достаточное разрешение для удалённых объектов, свет ночью, контроль осадков и чистоты объектива.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77056"/>
            <a:ext cx="5440680" cy="1783080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Метаданные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26864"/>
            <a:ext cx="49834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Единое время съёмки и идентификатор площадки, синхронизация с календарным графиком.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77056"/>
            <a:ext cx="5440680" cy="1783080"/>
          </a:xfrm>
          <a:prstGeom prst="roundRect">
            <a:avLst/>
          </a:prstGeom>
          <a:solidFill>
            <a:srgbClr val="F9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96512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310F53"/>
                </a:solidFill>
                <a:latin typeface="Montserrat"/>
              </a:rPr>
              <a:t>Проверка отсутствия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26864"/>
            <a:ext cx="49834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1C1D22"/>
                </a:solidFill>
                <a:latin typeface="Montserrat"/>
              </a:rPr>
              <a:t>Прежде чем выдавать сигнал, убедиться, что нужная техника могла попасть в поле зрения.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FFD6E4"/>
                </a:solidFill>
                <a:latin typeface="Montserrat"/>
              </a:rPr>
              <a:t>РАЗВИТИЕ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ontserrat"/>
              </a:rPr>
              <a:t>Следующие шаги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FFD6E4"/>
                </a:solidFill>
                <a:latin typeface="Montserrat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40680" cy="1901952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0253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01 · Качество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32888"/>
            <a:ext cx="4983480" cy="98755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Размеченный московский тест, метрики по каждому классу и погоде.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40680" cy="1901952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02 · Мелкие объекты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32888"/>
            <a:ext cx="4983480" cy="98755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Тайлинг SAHI и оценка задержки на слабом сервере.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5440680" cy="1901952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03 · Аналитика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81728"/>
            <a:ext cx="4983480" cy="98755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Несколько камер, учёт видимости и временные ряды.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40680" cy="1901952"/>
          </a:xfrm>
          <a:prstGeom prst="round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51376"/>
            <a:ext cx="498348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1">
                <a:solidFill>
                  <a:srgbClr val="FFD6E4"/>
                </a:solidFill>
                <a:latin typeface="Montserrat"/>
              </a:rPr>
              <a:t>04 · Внедрение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81728"/>
            <a:ext cx="4983480" cy="98755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ontserrat"/>
              </a:rPr>
              <a:t>Пилот с инспекторами и калибровка правил по площадкам.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1">
                <a:solidFill>
                  <a:srgbClr val="FFD6E4"/>
                </a:solidFill>
                <a:latin typeface="Montserrat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ontserrat"/>
              </a:rPr>
              <a:t>BuildWatch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502920" cy="2103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000" b="0">
                <a:solidFill>
                  <a:srgbClr val="FFD6E4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56816"/>
            <a:ext cx="10835640" cy="78638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ontserrat"/>
              </a:rPr>
              <a:t>Снимок → этап → объяснимый сигнал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63240"/>
            <a:ext cx="10789920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2200" b="0">
                <a:solidFill>
                  <a:srgbClr val="FFD6E4"/>
                </a:solidFill>
                <a:latin typeface="Montserrat"/>
              </a:rPr>
              <a:t>Работающий интерфейс, правила и проверяемый человеком результат.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81728"/>
            <a:ext cx="10698480" cy="4846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ontserrat"/>
              </a:rPr>
              <a:t>Репозиторий и инструкция по запуску — в README.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BuildWatch — ЛЦТ 2026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  <dc:subject>Автоматизированный контроль строительных площадок</dc:subject>
</cp:coreProperties>
</file>