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4bca660abc74f06" Type="http://schemas.openxmlformats.org/officeDocument/2006/relationships/extended-properties" Target="docProps/app.xml"/><Relationship Id="R80551c4cd95f463b" Type="http://schemas.openxmlformats.org/officeDocument/2006/relationships/officeDocument" Target="ppt/presentation.xml"/><Relationship Id="Rf30057f1384a4fe3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d17a8ff172480c"/>
  </p:sldMasterIdLst>
  <p:notesMasterIdLst>
    <p:notesMasterId xmlns:r="http://schemas.openxmlformats.org/officeDocument/2006/relationships" r:id="R38ab369df30a4716"/>
  </p:notesMasterIdLst>
  <p:sldIdLst>
    <p:sldId xmlns:r="http://schemas.openxmlformats.org/officeDocument/2006/relationships" id="256" r:id="Rebe9057329d54f83"/>
    <p:sldId xmlns:r="http://schemas.openxmlformats.org/officeDocument/2006/relationships" id="257" r:id="Rafddc13890854ca6"/>
    <p:sldId xmlns:r="http://schemas.openxmlformats.org/officeDocument/2006/relationships" id="258" r:id="R752f1e8cb28e4171"/>
    <p:sldId xmlns:r="http://schemas.openxmlformats.org/officeDocument/2006/relationships" id="259" r:id="Rdd8f6cc60b5148c0"/>
    <p:sldId xmlns:r="http://schemas.openxmlformats.org/officeDocument/2006/relationships" id="260" r:id="R9d0acd167d9645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262feba1d96d439f" Type="http://schemas.openxmlformats.org/officeDocument/2006/relationships/presProps" Target="presProps.xml"/><Relationship Id="R2e76e4a990da4381" Type="http://schemas.openxmlformats.org/officeDocument/2006/relationships/tableStyles" Target="tableStyles.xml"/><Relationship Id="R38ab369df30a4716" Type="http://schemas.openxmlformats.org/officeDocument/2006/relationships/notesMaster" Target="notesMasters/notesMaster1.xml"/><Relationship Id="R53e8ca94e17b4b07" Type="http://schemas.openxmlformats.org/officeDocument/2006/relationships/viewProps" Target="viewProps.xml"/><Relationship Id="R65a4d963920f4625" Type="http://schemas.openxmlformats.org/officeDocument/2006/relationships/theme" Target="theme/theme1.xml"/><Relationship Id="R752f1e8cb28e4171" Type="http://schemas.openxmlformats.org/officeDocument/2006/relationships/slide" Target="slides/slide3.xml"/><Relationship Id="R9d0acd167d964593" Type="http://schemas.openxmlformats.org/officeDocument/2006/relationships/slide" Target="slides/slide5.xml"/><Relationship Id="Ra9d17a8ff172480c" Type="http://schemas.openxmlformats.org/officeDocument/2006/relationships/slideMaster" Target="slideMasters/slideMaster1.xml"/><Relationship Id="Rafddc13890854ca6" Type="http://schemas.openxmlformats.org/officeDocument/2006/relationships/slide" Target="slides/slide2.xml"/><Relationship Id="Rdd8f6cc60b5148c0" Type="http://schemas.openxmlformats.org/officeDocument/2006/relationships/slide" Target="slides/slide4.xml"/><Relationship Id="Rebe9057329d54f83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78f8f717fea1448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e53537196da4af3" Type="http://schemas.openxmlformats.org/officeDocument/2006/relationships/notesMaster" Target="../notesMasters/notesMaster1.xml"/><Relationship Id="R5bb19b93cc0f4a7b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6b48c9f118284acf" Type="http://schemas.openxmlformats.org/officeDocument/2006/relationships/notesMaster" Target="../notesMasters/notesMaster1.xml"/><Relationship Id="Re7e19403b42a44c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0d58a9d3e45406e" Type="http://schemas.openxmlformats.org/officeDocument/2006/relationships/notesMaster" Target="../notesMasters/notesMaster1.xml"/><Relationship Id="Rd56d563a61a54d6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71a0151b6dfa478c" Type="http://schemas.openxmlformats.org/officeDocument/2006/relationships/notesMaster" Target="../notesMasters/notesMaster1.xml"/><Relationship Id="R820f2a93959847f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38e5969b0744ddc" Type="http://schemas.openxmlformats.org/officeDocument/2006/relationships/notesMaster" Target="../notesMasters/notesMaster1.xml"/><Relationship Id="R6fb66f42b5d44da5" Type="http://schemas.openxmlformats.org/officeDocument/2006/relationships/slide" Target="../slides/slide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Формулировка уникальности учитывает рынок: OpenSpace Track связывает reality capture и плановые вехи, а Buildots сравнивает захваты с BIM и графиком. BuildWatch показывает более узкий сценарий: фиксированный кадр, этап, обязательная техника и проверяемый сигнал для инспектора. Источники: https://www.openspace.ai/press-releases/progress-tracking-disperse/ ; https://buildots.com/product/ ; https://marketplace.autodesk.com/apps/c5743a29-7f99-402d-b122-c58de121aa4b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Архитектура собрана по текущему прототипу: frontend Next.js, FastAPI, SQLite/PostgreSQL, очередь detection_jobs, worker с YOLO и rules для проверки этапа. Сигнал остаётся на проверку инспектору.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6be27fb89c847b1" Type="http://schemas.openxmlformats.org/officeDocument/2006/relationships/image" Target="../media/image2.png"/><Relationship Id="Rc1b4855d446143e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f943d9d9bda4b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dd92c69d661a476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e201d787ade4c3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8ca5d6a633490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36516cfd0944d3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f1540c56c16b4e0a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8d34f5eb08774ea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7267bda04e30465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f0dc2ff602b0484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5b38b685284c4603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6d0a4878554c449b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81ab82b475cc4cbb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84b46b172b1a4f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ad0dd1385cf94f52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a3048da3de564e03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2f5afd0e73914055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de5bc98973714fd4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b7ffa1610cd347f2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5d043937a1c84a69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680205584a2544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7879aadb42144ff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1ee721c44b4b42b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36be27fb89c847b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181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2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5bb87801b124ae8" Type="http://schemas.openxmlformats.org/officeDocument/2006/relationships/slideLayout" Target="../slideLayouts/slideLayout19.xml"/><Relationship Id="R0917e79e726c4dee" Type="http://schemas.openxmlformats.org/officeDocument/2006/relationships/slideLayout" Target="../slideLayouts/slideLayout23.xml"/><Relationship Id="R121c089aa6134a66" Type="http://schemas.openxmlformats.org/officeDocument/2006/relationships/slideLayout" Target="../slideLayouts/slideLayout15.xml"/><Relationship Id="R1f4b11aaef574f5d" Type="http://schemas.openxmlformats.org/officeDocument/2006/relationships/slideLayout" Target="../slideLayouts/slideLayout18.xml"/><Relationship Id="R2a71b12192474927" Type="http://schemas.openxmlformats.org/officeDocument/2006/relationships/slideLayout" Target="../slideLayouts/slideLayout12.xml"/><Relationship Id="R2f95bd272ee74b19" Type="http://schemas.openxmlformats.org/officeDocument/2006/relationships/slideLayout" Target="../slideLayouts/slideLayout14.xml"/><Relationship Id="R31682d7a1e4d486b" Type="http://schemas.openxmlformats.org/officeDocument/2006/relationships/slideLayout" Target="../slideLayouts/slideLayout3.xml"/><Relationship Id="R3595f1d1e0264953" Type="http://schemas.openxmlformats.org/officeDocument/2006/relationships/slideLayout" Target="../slideLayouts/slideLayout17.xml"/><Relationship Id="R35e45485d4d94235" Type="http://schemas.openxmlformats.org/officeDocument/2006/relationships/slideLayout" Target="../slideLayouts/slideLayout20.xml"/><Relationship Id="R3a9e6bf0d6ad4ce6" Type="http://schemas.openxmlformats.org/officeDocument/2006/relationships/slideLayout" Target="../slideLayouts/slideLayout5.xml"/><Relationship Id="R5308d5752e5b42d5" Type="http://schemas.openxmlformats.org/officeDocument/2006/relationships/theme" Target="theme/theme2.xml"/><Relationship Id="R63c9e876bb9640c2" Type="http://schemas.openxmlformats.org/officeDocument/2006/relationships/slideLayout" Target="../slideLayouts/slideLayout2.xml"/><Relationship Id="R695d39beb5434b80" Type="http://schemas.openxmlformats.org/officeDocument/2006/relationships/slideLayout" Target="../slideLayouts/slideLayout13.xml"/><Relationship Id="R6bd88053878349b2" Type="http://schemas.openxmlformats.org/officeDocument/2006/relationships/slideLayout" Target="../slideLayouts/slideLayout4.xml"/><Relationship Id="R6ee0a337b1554716" Type="http://schemas.openxmlformats.org/officeDocument/2006/relationships/slideLayout" Target="../slideLayouts/slideLayout7.xml"/><Relationship Id="R7715fc9aa17b4ad1" Type="http://schemas.openxmlformats.org/officeDocument/2006/relationships/slideLayout" Target="../slideLayouts/slideLayout9.xml"/><Relationship Id="R87009b3d46c5434a" Type="http://schemas.openxmlformats.org/officeDocument/2006/relationships/slideLayout" Target="../slideLayouts/slideLayout21.xml"/><Relationship Id="Ra488f121a8154837" Type="http://schemas.openxmlformats.org/officeDocument/2006/relationships/slideLayout" Target="../slideLayouts/slideLayout8.xml"/><Relationship Id="Ra62149a076da4763" Type="http://schemas.openxmlformats.org/officeDocument/2006/relationships/slideLayout" Target="../slideLayouts/slideLayout22.xml"/><Relationship Id="Race4e3d3d43f478a" Type="http://schemas.openxmlformats.org/officeDocument/2006/relationships/slideLayout" Target="../slideLayouts/slideLayout6.xml"/><Relationship Id="Rcca9414d39cd4b7d" Type="http://schemas.openxmlformats.org/officeDocument/2006/relationships/slideLayout" Target="../slideLayouts/slideLayout11.xml"/><Relationship Id="Rcef03ee70ac34747" Type="http://schemas.openxmlformats.org/officeDocument/2006/relationships/slideLayout" Target="../slideLayouts/slideLayout16.xml"/><Relationship Id="Rd6bc21d7e09e4cc7" Type="http://schemas.openxmlformats.org/officeDocument/2006/relationships/slideLayout" Target="../slideLayouts/slideLayout10.xml"/><Relationship Id="Rdda430d1518347b8" Type="http://schemas.openxmlformats.org/officeDocument/2006/relationships/slideLayout" Target="../slideLayouts/slideLayout1.xml"/><Relationship Id="Rdfc218b0e6d94ee7" Type="http://schemas.openxmlformats.org/officeDocument/2006/relationships/image" Target="../media/image.png"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fc218b0e6d94ee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a430d1518347b8"/>
    <p:sldLayoutId xmlns:r="http://schemas.openxmlformats.org/officeDocument/2006/relationships" id="2147483650" r:id="R63c9e876bb9640c2"/>
    <p:sldLayoutId xmlns:r="http://schemas.openxmlformats.org/officeDocument/2006/relationships" id="2147483651" r:id="R31682d7a1e4d486b"/>
    <p:sldLayoutId xmlns:r="http://schemas.openxmlformats.org/officeDocument/2006/relationships" id="2147483652" r:id="R6bd88053878349b2"/>
    <p:sldLayoutId xmlns:r="http://schemas.openxmlformats.org/officeDocument/2006/relationships" id="2147483653" r:id="R3a9e6bf0d6ad4ce6"/>
    <p:sldLayoutId xmlns:r="http://schemas.openxmlformats.org/officeDocument/2006/relationships" id="2147483654" r:id="Race4e3d3d43f478a"/>
    <p:sldLayoutId xmlns:r="http://schemas.openxmlformats.org/officeDocument/2006/relationships" id="2147483655" r:id="R6ee0a337b1554716"/>
    <p:sldLayoutId xmlns:r="http://schemas.openxmlformats.org/officeDocument/2006/relationships" id="2147483656" r:id="Ra488f121a8154837"/>
    <p:sldLayoutId xmlns:r="http://schemas.openxmlformats.org/officeDocument/2006/relationships" id="2147483657" r:id="R7715fc9aa17b4ad1"/>
    <p:sldLayoutId xmlns:r="http://schemas.openxmlformats.org/officeDocument/2006/relationships" id="2147483658" r:id="Rd6bc21d7e09e4cc7"/>
    <p:sldLayoutId xmlns:r="http://schemas.openxmlformats.org/officeDocument/2006/relationships" id="2147483659" r:id="Rcca9414d39cd4b7d"/>
    <p:sldLayoutId xmlns:r="http://schemas.openxmlformats.org/officeDocument/2006/relationships" id="2147483660" r:id="R2a71b12192474927"/>
    <p:sldLayoutId xmlns:r="http://schemas.openxmlformats.org/officeDocument/2006/relationships" id="2147483661" r:id="R695d39beb5434b80"/>
    <p:sldLayoutId xmlns:r="http://schemas.openxmlformats.org/officeDocument/2006/relationships" id="2147483662" r:id="R2f95bd272ee74b19"/>
    <p:sldLayoutId xmlns:r="http://schemas.openxmlformats.org/officeDocument/2006/relationships" id="2147483663" r:id="R121c089aa6134a66"/>
    <p:sldLayoutId xmlns:r="http://schemas.openxmlformats.org/officeDocument/2006/relationships" id="2147483664" r:id="Rcef03ee70ac34747"/>
    <p:sldLayoutId xmlns:r="http://schemas.openxmlformats.org/officeDocument/2006/relationships" id="2147483665" r:id="R3595f1d1e0264953"/>
    <p:sldLayoutId xmlns:r="http://schemas.openxmlformats.org/officeDocument/2006/relationships" id="2147483666" r:id="R1f4b11aaef574f5d"/>
    <p:sldLayoutId xmlns:r="http://schemas.openxmlformats.org/officeDocument/2006/relationships" id="2147483667" r:id="R05bb87801b124ae8"/>
    <p:sldLayoutId xmlns:r="http://schemas.openxmlformats.org/officeDocument/2006/relationships" id="2147483668" r:id="R35e45485d4d94235"/>
    <p:sldLayoutId xmlns:r="http://schemas.openxmlformats.org/officeDocument/2006/relationships" id="2147483669" r:id="R87009b3d46c5434a"/>
    <p:sldLayoutId xmlns:r="http://schemas.openxmlformats.org/officeDocument/2006/relationships" id="2147483670" r:id="Ra62149a076da4763"/>
    <p:sldLayoutId xmlns:r="http://schemas.openxmlformats.org/officeDocument/2006/relationships" id="2147483671" r:id="R0917e79e726c4dee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3c208dd5b4e429e" Type="http://schemas.openxmlformats.org/officeDocument/2006/relationships/notesSlide" Target="../notesSlides/notesSlide1.xml"/><Relationship Id="Rf506d30e0d5d4ef9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0b15b4fd68504674" Type="http://schemas.openxmlformats.org/officeDocument/2006/relationships/image" Target="../media/image4.png"/><Relationship Id="R2ea8a0395c024ab7" Type="http://schemas.openxmlformats.org/officeDocument/2006/relationships/notesSlide" Target="../notesSlides/notesSlide2.xml"/><Relationship Id="R6fe7dd7f53d440ff" Type="http://schemas.openxmlformats.org/officeDocument/2006/relationships/slideLayout" Target="../slideLayouts/slideLayout2.xml"/><Relationship Id="Rdfcea3acfb414b66" Type="http://schemas.openxmlformats.org/officeDocument/2006/relationships/image" Target="../media/image3.png"/><Relationship Id="rId5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31d86016db664bf1" Type="http://schemas.openxmlformats.org/officeDocument/2006/relationships/image" Target="../media/image.png"/><Relationship Id="R477b469a74904413" Type="http://schemas.openxmlformats.org/officeDocument/2006/relationships/slideLayout" Target="../slideLayouts/slideLayout3.xml"/><Relationship Id="R7278eb52414c48fd" Type="http://schemas.openxmlformats.org/officeDocument/2006/relationships/image" Target="../media/image5.png"/><Relationship Id="Rda0a32f917e04fce" Type="http://schemas.openxmlformats.org/officeDocument/2006/relationships/notesSlide" Target="../notesSlides/notesSlide3.xml"/><Relationship Id="Reb70df291d4e474f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35df3304d2c04861" Type="http://schemas.openxmlformats.org/officeDocument/2006/relationships/image" Target="../media/image7.png"/><Relationship Id="R929567a623a84cd9" Type="http://schemas.openxmlformats.org/officeDocument/2006/relationships/slideLayout" Target="../slideLayouts/slideLayout3.xml"/><Relationship Id="Re788c12e6a34466f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7b78d91df5fc48fc" Type="http://schemas.openxmlformats.org/officeDocument/2006/relationships/slideLayout" Target="../slideLayouts/slideLayout11.xml"/><Relationship Id="R7b94ea9c194d4e6e" Type="http://schemas.openxmlformats.org/officeDocument/2006/relationships/image" Target="../media/image.png"/><Relationship Id="Re0e8e7146ba546d0" Type="http://schemas.openxmlformats.org/officeDocument/2006/relationships/image" Target="../media/image8.png"/><Relationship Id="Red3dff563a6b4a2a" Type="http://schemas.openxmlformats.org/officeDocument/2006/relationships/notesSlide" Target="../notesSlides/notesSlide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268288" indent="0" algn="l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Интеллектуальная система мониторинга строительной площадки</a:t>
            </a:r>
            <a:endParaRPr sz="4800"/>
          </a:p>
        </p:txBody>
      </p:sp>
      <p:pic xmlns:a="http://schemas.openxmlformats.org/drawingml/2006/main" xmlns:r="http://schemas.openxmlformats.org/officeDocument/2006/relationships">
        <p:nvPicPr>
          <p:cNvPr id="4" name="Рисунок 3" descr="mos-gov-logo.png"/>
          <p:cNvPicPr>
            <a:picLocks noGrp="1" noChangeAspect="1"/>
          </p:cNvPicPr>
          <p:nvPr>
            <p:ph type="pic" idx="11"/>
          </p:nvPr>
        </p:nvPicPr>
        <p:blipFill>
          <a:blip r:embed="rId3"/>
          <a:srcRect t="11361" b="11361"/>
          <a:stretch>
            <a:fillRect/>
          </a:stretch>
        </p:blipFill>
        <p:spPr>
          <a:xfrm>
            <a:off x="713558" y="393192"/>
            <a:ext cx="4406754" cy="1188720"/>
          </a:xfrm>
        </p:spPr>
      </p:pic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wrap="square" anchor="t">
            <a:normAutofit fontScale="90992"/>
          </a:bodyPr>
          <a:lstStyle xmlns:a="http://schemas.openxmlformats.org/drawingml/2006/main"/>
          <a:p xmlns:a="http://schemas.openxmlformats.org/drawingml/2006/main">
            <a:pPr indent="268288"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ЛЦТ 2026</a:t>
            </a:r>
            <a:endParaRPr/>
          </a:p>
          <a:p xmlns:a="http://schemas.openxmlformats.org/drawingml/2006/main">
            <a:pPr indent="268288"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Задача 7</a:t>
            </a:r>
            <a:endParaRPr/>
          </a:p>
          <a:p xmlns:a="http://schemas.openxmlformats.org/drawingml/2006/main">
            <a:pPr indent="268288" algn="l"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Команда «Бас»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fcea3acfb414b6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 xmlns:a="http://schemas.openxmlformats.org/drawingml/2006/main" xmlns:r="http://schemas.openxmlformats.org/officeDocument/2006/relationships">
        <p:nvPicPr>
          <p:cNvPr id="2" name="Рисунок 1" descr="team-photo.jpg"/>
          <p:cNvPicPr>
            <a:picLocks noGrp="1" noChangeAspect="1"/>
          </p:cNvPicPr>
          <p:nvPr>
            <p:ph type="pic" idx="10"/>
          </p:nvPr>
        </p:nvPicPr>
        <p:blipFill>
          <a:blip r:embed="rId5"/>
          <a:srcRect t="7398" b="7398"/>
          <a:stretch>
            <a:fillRect/>
          </a:stretch>
        </p:blipFill>
        <p:spPr>
          <a:xfrm>
            <a:off x="0" y="338328"/>
            <a:ext cx="6455664" cy="2971800"/>
          </a:xfr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План, детекция и правила дают объяснение каждого сигнала.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Капитан: Басков Константин, разработчик</a:t>
            </a:r>
            <a:r>
              <a:rPr>
                <a:solidFill>
                  <a:schemeClr val="tx1"/>
                </a:solidFill>
              </a:rPr>
              <a:t/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Кол-во участников: 2</a:t>
            </a:r>
            <a:r>
              <a:rPr>
                <a:solidFill>
                  <a:schemeClr val="tx1"/>
                </a:solidFill>
              </a:rPr>
              <a:t/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Краткое описание: снимок → этап плана → проверяемый сигнал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История команды: computer vision и строительство — может ли камера подсказать инспектору, что происходит на площадке?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i="1">
                <a:solidFill>
                  <a:schemeClr val="tx1"/>
                </a:solidFill>
              </a:rPr>
              <a:t>Место работы/учёбы: [заполнить]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>
                <a:solidFill>
                  <a:schemeClr val="tx1"/>
                </a:solidFill>
              </a:rPr>
              <a:t>Город и регион: Санкт-Петербург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solidFill>
                  <a:schemeClr val="accent5"/>
                </a:solidFill>
              </a:rPr>
              <a:t>КОМАНДА «БАС»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12524050-698B-405E-8B75-58DD03BD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B7389DAF-4797-4C51-A141-CAB01284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AC015DA7-0667-43C6-87E5-89BF7C63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1600" b="1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</a:pPr>
            <a:r>
              <a:rPr>
                <a:solidFill>
                  <a:schemeClr val="tx1"/>
                </a:solidFill>
              </a:rPr>
              <a:t>Снимок и этап работ превращаются в проверяемый сигнал инспектору.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A9C058-61A9-4FB2-B92B-CAC3D6104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532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4E1A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1d86016db664bf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3190875" cy="428625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53000"/>
            <a:ext cx="2571750" cy="4286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spcBef>
                <a:spcPts val="600"/>
              </a:spcBef>
              <a:buFont typeface="Arial"/>
              <a:buChar char="•"/>
              <a:defRPr sz="135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Продуктовый менеджер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33875"/>
            <a:ext cx="2571750" cy="523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buNone/>
              <a:defRPr sz="150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Манаков Дмитрий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524000"/>
            <a:ext cx="3190875" cy="4286250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 xmlns:a="http://schemas.openxmlformats.org/drawingml/2006/main">
              <a:ext uri="{FF2B5EF4-FFF2-40B4-BE49-F238E27FC236}">
                <a16:creationId xmlns:a16="http://schemas.microsoft.com/office/drawing/2014/main" id="{4C94D4FF-301C-477D-8018-73C5CC99D493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81397" y="1816054"/>
            <a:ext cx="1722566" cy="1552901"/>
          </a:xfrm>
        </p:spPr>
        <p:txBody xmlns:a="http://schemas.openxmlformats.org/drawingml/2006/main">
          <a:bodyPr/>
          <a:p/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2886467" y="1826554"/>
            <a:ext cx="1722566" cy="1542401"/>
          </a:xfrm>
        </p:spPr>
        <p:txBody xmlns:a="http://schemas.openxmlformats.org/drawingml/2006/main">
          <a:bodyPr/>
          <a:p/>
        </p:txBody>
      </p:sp>
      <p:sp>
        <p:nvSpPr>
          <p:cNvPr id="4" name="Рисунок 3">
            <a:extLst xmlns:a="http://schemas.openxmlformats.org/drawingml/2006/main"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5191784" y="1809238"/>
            <a:ext cx="1722567" cy="1559717"/>
          </a:xfrm>
        </p:spPr>
        <p:txBody xmlns:a="http://schemas.openxmlformats.org/drawingml/2006/main">
          <a:bodyPr/>
          <a:p/>
        </p:txBody>
      </p:sp>
      <p:sp>
        <p:nvSpPr>
          <p:cNvPr id="5" name="Рисунок 4">
            <a:extLst xmlns:a="http://schemas.openxmlformats.org/drawingml/2006/main"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7520208" y="1809238"/>
            <a:ext cx="1722567" cy="1559717"/>
          </a:xfrm>
        </p:spPr>
        <p:txBody xmlns:a="http://schemas.openxmlformats.org/drawingml/2006/main">
          <a:bodyPr/>
          <a:p/>
        </p:txBody>
      </p:sp>
      <p:sp>
        <p:nvSpPr>
          <p:cNvPr id="6" name="Рисунок 5">
            <a:extLst xmlns:a="http://schemas.openxmlformats.org/drawingml/2006/main"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xmlns:a="http://schemas.openxmlformats.org/drawingml/2006/main" noGrp="1"/>
          </p:cNvSpPr>
          <p:nvPr>
            <p:ph type="pic" idx="4294967295"/>
          </p:nvPr>
        </p:nvSpPr>
        <p:spPr>
          <a:xfrm xmlns:a="http://schemas.openxmlformats.org/drawingml/2006/main">
            <a:off x="9802422" y="1809238"/>
            <a:ext cx="1722566" cy="1559717"/>
          </a:xfrm>
        </p:spPr>
        <p:txBody xmlns:a="http://schemas.openxmlformats.org/drawingml/2006/main">
          <a:bodyPr/>
          <a:p/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КОМАНДА «БАС»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000375" y="4953000"/>
            <a:ext cx="2571750" cy="42862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135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Разработчик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333875"/>
            <a:ext cx="2571750" cy="523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buNone/>
              <a:defRPr sz="150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Басков Константин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8eb52414c48fd"/>
          <a:srcRect xmlns:a="http://schemas.openxmlformats.org/drawingml/2006/main" l="0" t="12592" r="0" b="12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000375" y="1809750"/>
            <a:ext cx="2571750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0df291d4e474f"/>
          <a:srcRect xmlns:a="http://schemas.openxmlformats.org/drawingml/2006/main" l="0" t="4630" r="0" b="46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1809750"/>
            <a:ext cx="2571750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5df3304d2c0486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 КОМАНДЕ И ВЫЗОВАХ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Нам близки компьютерное зрение и строительство. Мы задали простой вопрос: может ли камера подсказать инспектору, что происходит на площадке?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Как появилась идея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1125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Сложнее всего было найти и разметить кадры для модели. Мы искали открытые данные и методики в интернете, сверяли классы техники и собирали примеры под свой сценарий.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b="1">
                <a:solidFill>
                  <a:schemeClr val="accent5"/>
                </a:solidFill>
              </a:rPr>
              <a:t>Что было самым трудным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  <a:defRPr sz="120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Мониторинг помогает замечать изменения вовремя. Мы хотим соединить цифровой инструмент с реальными процессами строительства.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Почему выбрали задачу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DA195C2E-49ED-4EDB-B54F-1F4B071E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49E442F4-B873-476B-A635-9CF1F563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F0638000-047B-4602-B3F5-D6599967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  <p:txBody xmlns:a="http://schemas.openxmlformats.org/drawingml/2006/main">
          <a:bodyPr/>
          <a:p/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b94ea9c194d4e6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F1A2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F1A2A"/>
                </a:solidFill>
                <a:latin typeface="Arial"/>
                <a:ea typeface="Arial"/>
                <a:cs typeface="Arial"/>
              </a:rPr>
              <a:t>BuildWatch получает датированный снимок, связывает его с объектом и этапом календарного плана, распознаёт технику и формирует объяснимый сигнал. Инспектор подтверждает или отклоняет вывод.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000" b="1">
                <a:solidFill>
                  <a:schemeClr val="accent5"/>
                </a:solidFill>
              </a:rPr>
              <a:t>Короткое описание решения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Архитектура ПО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D78575-455E-4FD5-B542-651BD13C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1381125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4FA"/>
          </a:solidFill>
          <a:ln xmlns:a="http://schemas.openxmlformats.org/drawingml/2006/main" w="9525">
            <a:solidFill>
              <a:srgbClr val="E3DD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036284-A398-4268-A51C-25843C21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571750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КАМЕРА</a:t>
            </a:r>
          </a:p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снимок + время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3AE683-623C-4AE6-B646-F738B5FE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1381125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7F4FA"/>
          </a:solidFill>
          <a:ln xmlns:a="http://schemas.openxmlformats.org/drawingml/2006/main" w="9525">
            <a:solidFill>
              <a:srgbClr val="E3DD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7C1A62-D796-4E40-B3FD-3281F932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71750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API</a:t>
            </a:r>
          </a:p>
          <a:p xmlns:a="http://schemas.openxmlformats.org/drawingml/2006/main">
            <a:pPr algn="ctr">
              <a:defRPr sz="1050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объект + план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6C6F37-D936-4BD6-AA0F-A21BF86F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381250"/>
            <a:ext cx="1381125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35105B"/>
          </a:solidFill>
          <a:ln xmlns:a="http://schemas.openxmlformats.org/drawingml/2006/main" w="9525">
            <a:solidFill>
              <a:srgbClr val="3510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7D9A06-6519-458C-8B41-57CE626C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571750"/>
            <a:ext cx="1095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CV WORKER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YOLO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CBD0B7-0F79-49ED-8F8D-60E65E67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28900"/>
            <a:ext cx="2095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0054"/>
          </a:solidFill>
          <a:ln xmlns:a="http://schemas.openxmlformats.org/drawingml/2006/main" w="0">
            <a:solidFill>
              <a:srgbClr val="FF0054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B6B71C-02E1-42F6-B26E-39DA3C62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28900"/>
            <a:ext cx="2095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0054"/>
          </a:solidFill>
          <a:ln xmlns:a="http://schemas.openxmlformats.org/drawingml/2006/main" w="0">
            <a:solidFill>
              <a:srgbClr val="FF0054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5B59D6-CBA0-43BF-A1A0-8C31888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05250"/>
            <a:ext cx="2857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7F4FA"/>
          </a:solidFill>
          <a:ln xmlns:a="http://schemas.openxmlformats.org/drawingml/2006/main" w="9525">
            <a:solidFill>
              <a:srgbClr val="E3DDEE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AC68AE-1943-475F-873B-DE921003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576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ПРАВИЛА</a:t>
            </a:r>
          </a:p>
          <a:p xmlns:a="http://schemas.openxmlformats.org/drawingml/2006/main">
            <a:pPr algn="ctr">
              <a:defRPr sz="1125" b="1">
                <a:solidFill>
                  <a:srgbClr val="2A174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A1747"/>
                </a:solidFill>
                <a:latin typeface="Arial"/>
                <a:ea typeface="Arial"/>
                <a:cs typeface="Arial"/>
              </a:rPr>
              <a:t>этап → техника → сигнал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BA1B50-983D-49C3-BD16-3F45B00D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200400"/>
            <a:ext cx="0" cy="704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005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11BBFB-6DE2-45B6-96FA-8FEC31D0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95875"/>
            <a:ext cx="2857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5105B"/>
          </a:solidFill>
          <a:ln xmlns:a="http://schemas.openxmlformats.org/drawingml/2006/main" w="9525">
            <a:solidFill>
              <a:srgbClr val="35105B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38FC3F-FBD7-4D4F-AFB6-0955F172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4827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ИНСПЕКТОР</a:t>
            </a:r>
          </a:p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подтвердить / отклонить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D8FBEB-F518-4FC3-A5CE-71DD4D42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72000"/>
            <a:ext cx="0" cy="52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005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2866AF-C5E8-4967-8696-65832389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6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E1A7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E1A7A"/>
                </a:solidFill>
                <a:latin typeface="Arial"/>
                <a:ea typeface="Arial"/>
                <a:cs typeface="Arial"/>
              </a:rPr>
              <a:t>ПРИМЕР РАСПОЗНАВАНИЯ ТЕХНИКИ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e8e7146ba546d0"/>
          <a:srcRect xmlns:a="http://schemas.openxmlformats.org/drawingml/2006/main" l="0" t="3533" r="0" b="35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6800" y="3543300"/>
            <a:ext cx="4000500" cy="24765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2026-09-28T05:35:34.7710000Z</dcterms:created>
  <dcterms:modified xsi:type="dcterms:W3CDTF">2026-09-28T05:35:34.7710000Z</dcterms:modified>
</coreProperties>
</file>