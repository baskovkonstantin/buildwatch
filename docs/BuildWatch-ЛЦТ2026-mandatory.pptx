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4bca660abc74f06" Type="http://schemas.openxmlformats.org/officeDocument/2006/relationships/extended-properties" Target="docProps/app.xml"/><Relationship Id="R80551c4cd95f463b" Type="http://schemas.openxmlformats.org/officeDocument/2006/relationships/officeDocument" Target="ppt/presentation.xml"/><Relationship Id="Rf30057f1384a4fe3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d17a8ff172480c"/>
  </p:sldMasterIdLst>
  <p:notesMasterIdLst>
    <p:notesMasterId xmlns:r="http://schemas.openxmlformats.org/officeDocument/2006/relationships" r:id="R38ab369df30a4716"/>
  </p:notesMasterIdLst>
  <p:sldIdLst>
    <p:sldId xmlns:r="http://schemas.openxmlformats.org/officeDocument/2006/relationships" id="256" r:id="Rebe9057329d54f83"/>
    <p:sldId xmlns:r="http://schemas.openxmlformats.org/officeDocument/2006/relationships" id="257" r:id="Rafddc13890854ca6"/>
    <p:sldId xmlns:r="http://schemas.openxmlformats.org/officeDocument/2006/relationships" id="258" r:id="R752f1e8cb28e4171"/>
    <p:sldId xmlns:r="http://schemas.openxmlformats.org/officeDocument/2006/relationships" id="259" r:id="Rdd8f6cc60b5148c0"/>
    <p:sldId xmlns:r="http://schemas.openxmlformats.org/officeDocument/2006/relationships" id="260" r:id="R9d0acd167d9645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262feba1d96d439f" Type="http://schemas.openxmlformats.org/officeDocument/2006/relationships/presProps" Target="presProps.xml"/><Relationship Id="R2e76e4a990da4381" Type="http://schemas.openxmlformats.org/officeDocument/2006/relationships/tableStyles" Target="tableStyles.xml"/><Relationship Id="R38ab369df30a4716" Type="http://schemas.openxmlformats.org/officeDocument/2006/relationships/notesMaster" Target="notesMasters/notesMaster1.xml"/><Relationship Id="R53e8ca94e17b4b07" Type="http://schemas.openxmlformats.org/officeDocument/2006/relationships/viewProps" Target="viewProps.xml"/><Relationship Id="R65a4d963920f4625" Type="http://schemas.openxmlformats.org/officeDocument/2006/relationships/theme" Target="theme/theme1.xml"/><Relationship Id="R752f1e8cb28e4171" Type="http://schemas.openxmlformats.org/officeDocument/2006/relationships/slide" Target="slides/slide3.xml"/><Relationship Id="R9d0acd167d964593" Type="http://schemas.openxmlformats.org/officeDocument/2006/relationships/slide" Target="slides/slide5.xml"/><Relationship Id="Ra9d17a8ff172480c" Type="http://schemas.openxmlformats.org/officeDocument/2006/relationships/slideMaster" Target="slideMasters/slideMaster1.xml"/><Relationship Id="Rafddc13890854ca6" Type="http://schemas.openxmlformats.org/officeDocument/2006/relationships/slide" Target="slides/slide2.xml"/><Relationship Id="Rdd8f6cc60b5148c0" Type="http://schemas.openxmlformats.org/officeDocument/2006/relationships/slide" Target="slides/slide4.xml"/><Relationship Id="Rebe9057329d54f83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78f8f717fea1448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e53537196da4af3" Type="http://schemas.openxmlformats.org/officeDocument/2006/relationships/notesMaster" Target="../notesMasters/notesMaster1.xml"/><Relationship Id="R5bb19b93cc0f4a7b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6b48c9f118284acf" Type="http://schemas.openxmlformats.org/officeDocument/2006/relationships/notesMaster" Target="../notesMasters/notesMaster1.xml"/><Relationship Id="Re7e19403b42a44c4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80d58a9d3e45406e" Type="http://schemas.openxmlformats.org/officeDocument/2006/relationships/notesMaster" Target="../notesMasters/notesMaster1.xml"/><Relationship Id="Rd56d563a61a54d6a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71a0151b6dfa478c" Type="http://schemas.openxmlformats.org/officeDocument/2006/relationships/notesMaster" Target="../notesMasters/notesMaster1.xml"/><Relationship Id="R820f2a93959847f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38e5969b0744ddc" Type="http://schemas.openxmlformats.org/officeDocument/2006/relationships/notesMaster" Target="../notesMasters/notesMaster1.xml"/><Relationship Id="R6fb66f42b5d44da5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Формулировка уникальности учитывает рынок: OpenSpace Track связывает reality capture и плановые вехи, а Buildots сравнивает захваты с BIM и графиком. BuildWatch показывает более узкий сценарий: фиксированный кадр, этап, обязательная техника и проверяемый сигнал для инспектора. Источники: https://www.openspace.ai/press-releases/progress-tracking-disperse/ ; https://buildots.com/product/ ; https://marketplace.autodesk.com/apps/c5743a29-7f99-402d-b122-c58de121aa4b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Архитектура собрана по текущему прототипу: frontend Next.js, FastAPI, SQLite/PostgreSQL, очередь detection_jobs, worker с YOLO и rules для проверки этапа. Сигнал остаётся на проверку инспектору.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36be27fb89c847b1" Type="http://schemas.openxmlformats.org/officeDocument/2006/relationships/image" Target="../media/image2.png"/><Relationship Id="Rc1b4855d446143e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4f943d9d9bda4b2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dd92c69d661a4769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3e201d787ade4c30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008ca5d6a633490b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e36516cfd0944d3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f1540c56c16b4e0a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8d34f5eb08774ead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7267bda04e304655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f0dc2ff602b04842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5b38b685284c4603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6d0a4878554c449b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81ab82b475cc4cbb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84b46b172b1a4f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ad0dd1385cf94f52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a3048da3de564e03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2f5afd0e73914055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de5bc98973714fd4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b7ffa1610cd347f2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5d043937a1c84a69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680205584a2544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7879aadb42144ff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1ee721c44b4b42b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36be27fb89c847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5bb87801b124ae8" Type="http://schemas.openxmlformats.org/officeDocument/2006/relationships/slideLayout" Target="../slideLayouts/slideLayout19.xml"/><Relationship Id="R0917e79e726c4dee" Type="http://schemas.openxmlformats.org/officeDocument/2006/relationships/slideLayout" Target="../slideLayouts/slideLayout23.xml"/><Relationship Id="R121c089aa6134a66" Type="http://schemas.openxmlformats.org/officeDocument/2006/relationships/slideLayout" Target="../slideLayouts/slideLayout15.xml"/><Relationship Id="R1f4b11aaef574f5d" Type="http://schemas.openxmlformats.org/officeDocument/2006/relationships/slideLayout" Target="../slideLayouts/slideLayout18.xml"/><Relationship Id="R2a71b12192474927" Type="http://schemas.openxmlformats.org/officeDocument/2006/relationships/slideLayout" Target="../slideLayouts/slideLayout12.xml"/><Relationship Id="R2f95bd272ee74b19" Type="http://schemas.openxmlformats.org/officeDocument/2006/relationships/slideLayout" Target="../slideLayouts/slideLayout14.xml"/><Relationship Id="R31682d7a1e4d486b" Type="http://schemas.openxmlformats.org/officeDocument/2006/relationships/slideLayout" Target="../slideLayouts/slideLayout3.xml"/><Relationship Id="R3595f1d1e0264953" Type="http://schemas.openxmlformats.org/officeDocument/2006/relationships/slideLayout" Target="../slideLayouts/slideLayout17.xml"/><Relationship Id="R35e45485d4d94235" Type="http://schemas.openxmlformats.org/officeDocument/2006/relationships/slideLayout" Target="../slideLayouts/slideLayout20.xml"/><Relationship Id="R3a9e6bf0d6ad4ce6" Type="http://schemas.openxmlformats.org/officeDocument/2006/relationships/slideLayout" Target="../slideLayouts/slideLayout5.xml"/><Relationship Id="R5308d5752e5b42d5" Type="http://schemas.openxmlformats.org/officeDocument/2006/relationships/theme" Target="theme/theme2.xml"/><Relationship Id="R63c9e876bb9640c2" Type="http://schemas.openxmlformats.org/officeDocument/2006/relationships/slideLayout" Target="../slideLayouts/slideLayout2.xml"/><Relationship Id="R695d39beb5434b80" Type="http://schemas.openxmlformats.org/officeDocument/2006/relationships/slideLayout" Target="../slideLayouts/slideLayout13.xml"/><Relationship Id="R6bd88053878349b2" Type="http://schemas.openxmlformats.org/officeDocument/2006/relationships/slideLayout" Target="../slideLayouts/slideLayout4.xml"/><Relationship Id="R6ee0a337b1554716" Type="http://schemas.openxmlformats.org/officeDocument/2006/relationships/slideLayout" Target="../slideLayouts/slideLayout7.xml"/><Relationship Id="R7715fc9aa17b4ad1" Type="http://schemas.openxmlformats.org/officeDocument/2006/relationships/slideLayout" Target="../slideLayouts/slideLayout9.xml"/><Relationship Id="R87009b3d46c5434a" Type="http://schemas.openxmlformats.org/officeDocument/2006/relationships/slideLayout" Target="../slideLayouts/slideLayout21.xml"/><Relationship Id="Ra488f121a8154837" Type="http://schemas.openxmlformats.org/officeDocument/2006/relationships/slideLayout" Target="../slideLayouts/slideLayout8.xml"/><Relationship Id="Ra62149a076da4763" Type="http://schemas.openxmlformats.org/officeDocument/2006/relationships/slideLayout" Target="../slideLayouts/slideLayout22.xml"/><Relationship Id="Race4e3d3d43f478a" Type="http://schemas.openxmlformats.org/officeDocument/2006/relationships/slideLayout" Target="../slideLayouts/slideLayout6.xml"/><Relationship Id="Rcca9414d39cd4b7d" Type="http://schemas.openxmlformats.org/officeDocument/2006/relationships/slideLayout" Target="../slideLayouts/slideLayout11.xml"/><Relationship Id="Rcef03ee70ac34747" Type="http://schemas.openxmlformats.org/officeDocument/2006/relationships/slideLayout" Target="../slideLayouts/slideLayout16.xml"/><Relationship Id="Rd6bc21d7e09e4cc7" Type="http://schemas.openxmlformats.org/officeDocument/2006/relationships/slideLayout" Target="../slideLayouts/slideLayout10.xml"/><Relationship Id="Rdda430d1518347b8" Type="http://schemas.openxmlformats.org/officeDocument/2006/relationships/slideLayout" Target="../slideLayouts/slideLayout1.xml"/><Relationship Id="Rdfc218b0e6d94ee7" Type="http://schemas.openxmlformats.org/officeDocument/2006/relationships/image" Target="../media/image.png"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c218b0e6d94ee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a430d1518347b8"/>
    <p:sldLayoutId xmlns:r="http://schemas.openxmlformats.org/officeDocument/2006/relationships" id="2147483650" r:id="R63c9e876bb9640c2"/>
    <p:sldLayoutId xmlns:r="http://schemas.openxmlformats.org/officeDocument/2006/relationships" id="2147483651" r:id="R31682d7a1e4d486b"/>
    <p:sldLayoutId xmlns:r="http://schemas.openxmlformats.org/officeDocument/2006/relationships" id="2147483652" r:id="R6bd88053878349b2"/>
    <p:sldLayoutId xmlns:r="http://schemas.openxmlformats.org/officeDocument/2006/relationships" id="2147483653" r:id="R3a9e6bf0d6ad4ce6"/>
    <p:sldLayoutId xmlns:r="http://schemas.openxmlformats.org/officeDocument/2006/relationships" id="2147483654" r:id="Race4e3d3d43f478a"/>
    <p:sldLayoutId xmlns:r="http://schemas.openxmlformats.org/officeDocument/2006/relationships" id="2147483655" r:id="R6ee0a337b1554716"/>
    <p:sldLayoutId xmlns:r="http://schemas.openxmlformats.org/officeDocument/2006/relationships" id="2147483656" r:id="Ra488f121a8154837"/>
    <p:sldLayoutId xmlns:r="http://schemas.openxmlformats.org/officeDocument/2006/relationships" id="2147483657" r:id="R7715fc9aa17b4ad1"/>
    <p:sldLayoutId xmlns:r="http://schemas.openxmlformats.org/officeDocument/2006/relationships" id="2147483658" r:id="Rd6bc21d7e09e4cc7"/>
    <p:sldLayoutId xmlns:r="http://schemas.openxmlformats.org/officeDocument/2006/relationships" id="2147483659" r:id="Rcca9414d39cd4b7d"/>
    <p:sldLayoutId xmlns:r="http://schemas.openxmlformats.org/officeDocument/2006/relationships" id="2147483660" r:id="R2a71b12192474927"/>
    <p:sldLayoutId xmlns:r="http://schemas.openxmlformats.org/officeDocument/2006/relationships" id="2147483661" r:id="R695d39beb5434b80"/>
    <p:sldLayoutId xmlns:r="http://schemas.openxmlformats.org/officeDocument/2006/relationships" id="2147483662" r:id="R2f95bd272ee74b19"/>
    <p:sldLayoutId xmlns:r="http://schemas.openxmlformats.org/officeDocument/2006/relationships" id="2147483663" r:id="R121c089aa6134a66"/>
    <p:sldLayoutId xmlns:r="http://schemas.openxmlformats.org/officeDocument/2006/relationships" id="2147483664" r:id="Rcef03ee70ac34747"/>
    <p:sldLayoutId xmlns:r="http://schemas.openxmlformats.org/officeDocument/2006/relationships" id="2147483665" r:id="R3595f1d1e0264953"/>
    <p:sldLayoutId xmlns:r="http://schemas.openxmlformats.org/officeDocument/2006/relationships" id="2147483666" r:id="R1f4b11aaef574f5d"/>
    <p:sldLayoutId xmlns:r="http://schemas.openxmlformats.org/officeDocument/2006/relationships" id="2147483667" r:id="R05bb87801b124ae8"/>
    <p:sldLayoutId xmlns:r="http://schemas.openxmlformats.org/officeDocument/2006/relationships" id="2147483668" r:id="R35e45485d4d94235"/>
    <p:sldLayoutId xmlns:r="http://schemas.openxmlformats.org/officeDocument/2006/relationships" id="2147483669" r:id="R87009b3d46c5434a"/>
    <p:sldLayoutId xmlns:r="http://schemas.openxmlformats.org/officeDocument/2006/relationships" id="2147483670" r:id="Ra62149a076da4763"/>
    <p:sldLayoutId xmlns:r="http://schemas.openxmlformats.org/officeDocument/2006/relationships" id="2147483671" r:id="R0917e79e726c4dee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e3c208dd5b4e429e" Type="http://schemas.openxmlformats.org/officeDocument/2006/relationships/notesSlide" Target="../notesSlides/notesSlide1.xml"/><Relationship Id="Rf506d30e0d5d4ef9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b15b4fd68504674" Type="http://schemas.openxmlformats.org/officeDocument/2006/relationships/image" Target="../media/image4.png"/><Relationship Id="R2ea8a0395c024ab7" Type="http://schemas.openxmlformats.org/officeDocument/2006/relationships/notesSlide" Target="../notesSlides/notesSlide2.xml"/><Relationship Id="R6fe7dd7f53d440ff" Type="http://schemas.openxmlformats.org/officeDocument/2006/relationships/slideLayout" Target="../slideLayouts/slideLayout2.xml"/><Relationship Id="Rdfcea3acfb414b66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31d86016db664bf1" Type="http://schemas.openxmlformats.org/officeDocument/2006/relationships/image" Target="../media/image.png"/><Relationship Id="R477b469a74904413" Type="http://schemas.openxmlformats.org/officeDocument/2006/relationships/slideLayout" Target="../slideLayouts/slideLayout3.xml"/><Relationship Id="R7278eb52414c48fd" Type="http://schemas.openxmlformats.org/officeDocument/2006/relationships/image" Target="../media/image5.png"/><Relationship Id="Rda0a32f917e04fce" Type="http://schemas.openxmlformats.org/officeDocument/2006/relationships/notesSlide" Target="../notesSlides/notesSlide3.xml"/><Relationship Id="Reb70df291d4e474f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35df3304d2c04861" Type="http://schemas.openxmlformats.org/officeDocument/2006/relationships/image" Target="../media/image7.png"/><Relationship Id="R929567a623a84cd9" Type="http://schemas.openxmlformats.org/officeDocument/2006/relationships/slideLayout" Target="../slideLayouts/slideLayout3.xml"/><Relationship Id="Re788c12e6a34466f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7b78d91df5fc48fc" Type="http://schemas.openxmlformats.org/officeDocument/2006/relationships/slideLayout" Target="../slideLayouts/slideLayout11.xml"/><Relationship Id="R7b94ea9c194d4e6e" Type="http://schemas.openxmlformats.org/officeDocument/2006/relationships/image" Target="../media/image.png"/><Relationship Id="Re0e8e7146ba546d0" Type="http://schemas.openxmlformats.org/officeDocument/2006/relationships/image" Target="../media/image8.png"/><Relationship Id="Red3dff563a6b4a2a" Type="http://schemas.openxmlformats.org/officeDocument/2006/relationships/notesSlide" Target="../notesSlides/notesSlide5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268288" indent="0" algn="l">
              <a:buNone/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Интеллектуальная система мониторинга строительной площадки</a:t>
            </a: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wrap="square" anchor="t">
            <a:normAutofit fontScale="90992"/>
          </a:bodyPr>
          <a:lstStyle xmlns:a="http://schemas.openxmlformats.org/drawingml/2006/main"/>
          <a:p xmlns:a="http://schemas.openxmlformats.org/drawingml/2006/main">
            <a:pPr indent="268288"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ЛЦТ 2026</a:t>
            </a:r>
            <a:endParaRPr/>
          </a:p>
          <a:p xmlns:a="http://schemas.openxmlformats.org/drawingml/2006/main">
            <a:pPr indent="268288"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Задача 7</a:t>
            </a:r>
            <a:endParaRPr/>
          </a:p>
          <a:p xmlns:a="http://schemas.openxmlformats.org/drawingml/2006/main">
            <a:pPr indent="268288" algn="l"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Команда «Бас»</a:t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fcea3acfb414b6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335267"/>
            <a:ext cx="6456363" cy="2971784"/>
          </a:xfrm>
        </p:spPr>
        <p:txBody xmlns:a="http://schemas.openxmlformats.org/drawingml/2006/main">
          <a:bodyPr/>
          <a:p/>
        </p:txBody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План, детекция и правила дают объяснение каждого сигнала.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Капитан: Басков Константин, разработчик</a:t>
            </a:r>
            <a:r>
              <a:rPr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Кол-во участников: 2</a:t>
            </a:r>
            <a:r>
              <a:rPr>
                <a:solidFill>
                  <a:schemeClr val="tx1"/>
                </a:solidFill>
              </a:rPr>
              <a:t/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Краткое описание: BuildWatch получает датированный снимок, связывает его с объектом и этапом календарного плана, распознаёт технику и формирует объяснимый сигнал. Инспектор подтверждает или отклоняет вывод.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История команды: Нам близки компьютерное зрение и строительство. Мы задали простой вопрос: может ли камера подсказать инспектору, что происходит на площадке?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i="1">
                <a:solidFill>
                  <a:schemeClr val="tx1"/>
                </a:solidFill>
              </a:rPr>
              <a:t>Место работы/учёбы: [заполнить]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>Город и регион: Санкт-Петербург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BUILDWATCH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12524050-698B-405E-8B75-58DD03BD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B7389DAF-4797-4C51-A141-CAB012847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AC015DA7-0667-43C6-87E5-89BF7C632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>Снимок и этап работ превращаются в проверяемый сигнал инспектору.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52DCC5B9-D646-4B76-891F-6FF4E74E9CB4}" type="slidenum">
              <a:rPr sz="1200">
                <a:solidFill>
                  <a:schemeClr val="accent5"/>
                </a:solidFill>
              </a:rPr>
              <a:t>8</a:t>
            </a:fld>
            <a:endParaRPr sz="1200">
              <a:solidFill>
                <a:schemeClr val="accent5"/>
              </a:solidFill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F39B7-895B-4BB3-8E29-C9684D433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00125"/>
            <a:ext cx="12192000" cy="585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A"/>
          </a:solidFill>
          <a:ln xmlns:a="http://schemas.openxmlformats.org/drawingml/2006/main" w="0">
            <a:solidFill>
              <a:srgbClr val="F7F4FA"/>
            </a:solidFill>
          </a:ln>
        </p:spPr>
        <p:txBody xmlns:a="http://schemas.openxmlformats.org/drawingml/2006/main">
          <a:bodyPr/>
          <a:p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DD8EDC-25B1-4B01-9DE0-2A342274F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571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00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0054"/>
                </a:solidFill>
                <a:latin typeface="Arial"/>
                <a:ea typeface="Arial"/>
                <a:cs typeface="Arial"/>
              </a:rPr>
              <a:t>РЕШЕНИЕ  ·  КАК ЭТО РАБОТАЕТ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1C870-EEB0-4794-88B3-451C97948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От снимка площадки — к сигналу для инспектора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15b4fd68504674"/>
          <a:srcRect xmlns:a="http://schemas.openxmlformats.org/drawingml/2006/main" l="0" t="8801" r="0" b="88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2038350"/>
            <a:ext cx="5067300" cy="2781300"/>
          </a:xfrm>
          <a:prstGeom xmlns:a="http://schemas.openxmlformats.org/drawingml/2006/main" prst="roundRect">
            <a:avLst>
              <a:gd name="adj" fmla="val 4110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DC8C8E-D5B5-4817-8DCD-54205CE0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48150"/>
            <a:ext cx="47244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35105B"/>
          </a:solidFill>
          <a:ln xmlns:a="http://schemas.openxmlformats.org/drawingml/2006/main" w="9525">
            <a:solidFill>
              <a:srgbClr val="35105B"/>
            </a:solidFill>
          </a:ln>
        </p:spPr>
        <p:txBody xmlns:a="http://schemas.openxmlformats.org/drawingml/2006/main">
          <a:bodyPr/>
          <a:p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2B3AC4-F388-4100-9D34-5DB3BA36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433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ФАКТ НА КАДРЕ  ·  ТЕХНИКА РАСПОЗНАНА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CA3DC5-A456-4E23-B04D-13843C5A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38350"/>
            <a:ext cx="5753100" cy="2781300"/>
          </a:xfrm>
          <a:prstGeom xmlns:a="http://schemas.openxmlformats.org/drawingml/2006/main" prst="roundRect">
            <a:avLst>
              <a:gd name="adj" fmla="val 75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94964C-F4DB-41C9-BCC8-41972A56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76475"/>
            <a:ext cx="485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0054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0054"/>
                </a:solidFill>
                <a:latin typeface="Arial"/>
                <a:ea typeface="Arial"/>
                <a:cs typeface="Arial"/>
              </a:rPr>
              <a:t>КРАТКОЕ ОПИСАНИЕ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9812DE-4805-4A56-A9BB-3581650E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5143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Система связывает снимок с объектом и этапом плана, распознаёт технику и формирует объяснимый сигнал для проверки человеком.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BF5AB7-9504-46CD-B998-99924593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10668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7F4FA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6F8A6A-7C75-40B9-B98F-06E93564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052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КАМЕРА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B0774F-793E-4BE5-93DC-61C3602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14775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снимок</a:t>
            </a:r>
          </a:p>
          <a:p xmlns:a="http://schemas.openxmlformats.org/drawingml/2006/main">
            <a:pPr algn="ctr">
              <a:defRPr sz="975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+ время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643AE4-385E-4B14-A9C1-B0DB98000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4"/>
          </a:solidFill>
          <a:ln xmlns:a="http://schemas.openxmlformats.org/drawingml/2006/main" w="0">
            <a:solidFill>
              <a:srgbClr val="FF0054"/>
            </a:solidFill>
          </a:ln>
        </p:spPr>
        <p:txBody xmlns:a="http://schemas.openxmlformats.org/drawingml/2006/main">
          <a:bodyPr/>
          <a:p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5CBFA1-6B8A-457D-9F7C-424AA471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71875"/>
            <a:ext cx="10668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7F4FA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1261B4B-D682-4DB9-A1C6-D194D1981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052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CV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9527B56-0C2C-4684-A05F-4825B041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14775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распознаёт</a:t>
            </a:r>
          </a:p>
          <a:p xmlns:a="http://schemas.openxmlformats.org/drawingml/2006/main">
            <a:pPr algn="ctr">
              <a:defRPr sz="975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технику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2B90239-5A90-4605-9DB8-6AB4406D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81000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4"/>
          </a:solidFill>
          <a:ln xmlns:a="http://schemas.openxmlformats.org/drawingml/2006/main" w="0">
            <a:solidFill>
              <a:srgbClr val="FF0054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EFBB27-8A4A-4047-91B3-EFDE47A2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71875"/>
            <a:ext cx="106680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F7F4FA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693B0-DA00-4F29-AA7A-43DB2667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0522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ПРАВИЛО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E2FF8F3-54F1-415E-B0A9-37676A9E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14775"/>
            <a:ext cx="914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6923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этап →</a:t>
            </a:r>
          </a:p>
          <a:p xmlns:a="http://schemas.openxmlformats.org/drawingml/2006/main">
            <a:pPr algn="ctr">
              <a:defRPr sz="975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обязательная техника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D979CA7-8FBF-4B82-BA10-CCB637C4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3810000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4"/>
          </a:solidFill>
          <a:ln xmlns:a="http://schemas.openxmlformats.org/drawingml/2006/main" w="0">
            <a:solidFill>
              <a:srgbClr val="FF0054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DC8BAB0-236C-40E1-BFBC-4967EA6B3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571875"/>
            <a:ext cx="1123950" cy="762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35105B"/>
          </a:solidFill>
          <a:ln xmlns:a="http://schemas.openxmlformats.org/drawingml/2006/main" w="9525">
            <a:solidFill>
              <a:srgbClr val="35105B"/>
            </a:solidFill>
          </a:ln>
        </p:spPr>
        <p:txBody xmlns:a="http://schemas.openxmlformats.org/drawingml/2006/main">
          <a:bodyPr/>
          <a:p/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1166FA-15DC-4474-BAEE-ECD5B0CF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705225"/>
            <a:ext cx="971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ИНСПЕКТОР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EC55DD-AC8D-4107-89D5-54BDBD188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914775"/>
            <a:ext cx="971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проверка</a:t>
            </a:r>
          </a:p>
          <a:p xmlns:a="http://schemas.openxmlformats.org/drawingml/2006/main">
            <a:pPr algn="ctr">
              <a:defRPr sz="9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сигнала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585BBE2-4DD1-4575-BCBC-96B1E1DD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767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888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067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677C"/>
                </a:solidFill>
                <a:latin typeface="Arial"/>
                <a:ea typeface="Arial"/>
                <a:cs typeface="Arial"/>
              </a:rPr>
              <a:t>Уникальный фокус: фиксированные камеры и проверка обязательной техники для текущего этапа.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A534DB-5CE9-4178-BE5A-FA9BDF8D4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B954E58-1F07-45AF-B61D-2506E3DB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816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КОМАНДА «БАС»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2C7C6BA-C579-467B-A6F6-098B6588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5181600"/>
            <a:ext cx="352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70677C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70677C"/>
                </a:solidFill>
                <a:latin typeface="Arial"/>
                <a:ea typeface="Arial"/>
                <a:cs typeface="Arial"/>
              </a:rPr>
              <a:t>2 УЧАСТНИКА  ·  САНКТ-ПЕТЕРБУРГ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3662CF9-AADB-4E2C-A522-1DD41C78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Басков Константин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4B77E7-6789-451E-89BB-22AB5FF5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977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0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0677C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F3B2B51-E075-4D0D-82AB-E970789CD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76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3DDEE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F4BCED-BB15-4E89-9612-126BA2A4F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524500"/>
            <a:ext cx="457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Манаков Дмитрий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F83581-68D6-4FEC-AA59-128BC5AA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819775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0677C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70677C"/>
                </a:solidFill>
                <a:latin typeface="Arial"/>
                <a:ea typeface="Arial"/>
                <a:cs typeface="Arial"/>
              </a:rPr>
              <a:t>Продуктовый менеджер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1A9C058-61A9-4FB2-B92B-CAC3D6104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5532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4E1A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1d86016db664bf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524000"/>
            <a:ext cx="3190875" cy="428625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53000"/>
            <a:ext cx="2571750" cy="4286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spcBef>
                <a:spcPts val="600"/>
              </a:spcBef>
              <a:buFont typeface="Arial"/>
              <a:buChar char="•"/>
              <a:defRPr sz="1350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Продуктовый менеджер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2571750" cy="523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buNone/>
              <a:defRPr sz="150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Манаков Дмитрий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524000"/>
            <a:ext cx="3190875" cy="4286250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4C94D4FF-301C-477D-8018-73C5CC99D493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81397" y="1816054"/>
            <a:ext cx="1722566" cy="1552901"/>
          </a:xfrm>
        </p:spPr>
        <p:txBody xmlns:a="http://schemas.openxmlformats.org/drawingml/2006/main">
          <a:bodyPr/>
          <a:p/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2886467" y="1826554"/>
            <a:ext cx="1722566" cy="1542401"/>
          </a:xfrm>
        </p:spPr>
        <p:txBody xmlns:a="http://schemas.openxmlformats.org/drawingml/2006/main">
          <a:bodyPr/>
          <a:p/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191784" y="1809238"/>
            <a:ext cx="1722567" cy="1559717"/>
          </a:xfrm>
        </p:spPr>
        <p:txBody xmlns:a="http://schemas.openxmlformats.org/drawingml/2006/main">
          <a:bodyPr/>
          <a:p/>
        </p:txBody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7520208" y="1809238"/>
            <a:ext cx="1722567" cy="1559717"/>
          </a:xfrm>
        </p:spPr>
        <p:txBody xmlns:a="http://schemas.openxmlformats.org/drawingml/2006/main">
          <a:bodyPr/>
          <a:p/>
        </p:txBody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9802422" y="1809238"/>
            <a:ext cx="1722566" cy="1559717"/>
          </a:xfrm>
        </p:spPr>
        <p:txBody xmlns:a="http://schemas.openxmlformats.org/drawingml/2006/main">
          <a:bodyPr/>
          <a:p/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КОМАНДА «БАС»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000375" y="4953000"/>
            <a:ext cx="2571750" cy="428625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350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Разработчик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33875"/>
            <a:ext cx="2571750" cy="523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buNone/>
              <a:defRPr sz="150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Басков Константин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78eb52414c48fd"/>
          <a:srcRect xmlns:a="http://schemas.openxmlformats.org/drawingml/2006/main" l="0" t="12592" r="0" b="125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00375" y="1809750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0df291d4e474f"/>
          <a:srcRect xmlns:a="http://schemas.openxmlformats.org/drawingml/2006/main" l="0" t="4630" r="0" b="46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1809750"/>
            <a:ext cx="2571750" cy="2333625"/>
          </a:xfrm>
          <a:prstGeom xmlns:a="http://schemas.openxmlformats.org/drawingml/2006/main" prst="roundRect">
            <a:avLst>
              <a:gd name="adj" fmla="val 4898"/>
            </a:avLst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35df3304d2c0486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 КОМАНДЕ И ВЫЗОВАХ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Нам близки компьютерное зрение и строительство. Мы задали простой вопрос: может ли камера подсказать инспектору, что происходит на площадке?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Как появилась идея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125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Сложнее всего было найти и разметить кадры для модели. Мы искали открытые данные и методики в интернете, сверяли классы техники и собирали примеры под свой сценарий.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Что было самым трудным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l">
              <a:lnSpc>
                <a:spcPct val="100000"/>
              </a:lnSpc>
              <a:buNone/>
              <a:defRPr sz="1200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Мониторинг помогает замечать изменения вовремя. Мы хотим соединить цифровой инструмент с реальными процессами строительства.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выбрали задачу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DA195C2E-49ED-4EDB-B54F-1F4B071E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49E442F4-B873-476B-A635-9CF1F56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F0638000-047B-4602-B3F5-D6599967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 xmlns:a="http://schemas.openxmlformats.org/drawingml/2006/main">
          <a:bodyPr/>
          <a:p/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b94ea9c194d4e6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1A2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1F1A2A"/>
                </a:solidFill>
                <a:latin typeface="Arial"/>
                <a:ea typeface="Arial"/>
                <a:cs typeface="Arial"/>
              </a:rPr>
              <a:t>BuildWatch получает датированный снимок, связывает его с объектом и этапом календарного плана, распознаёт технику и формирует объяснимый сигнал. Инспектор подтверждает или отклоняет вывод.</a:t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Короткое описание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Архитектура ПО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D78575-455E-4FD5-B542-651BD13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138112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7F4FA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036284-A398-4268-A51C-25843C21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109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КАМЕРА</a:t>
            </a:r>
          </a:p>
          <a:p xmlns:a="http://schemas.openxmlformats.org/drawingml/2006/main">
            <a:pPr algn="ctr">
              <a:defRPr sz="1050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снимок + время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3AE683-623C-4AE6-B646-F738B5FEB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138112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7F4FA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7C1A62-D796-4E40-B3FD-3281F93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109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API</a:t>
            </a:r>
          </a:p>
          <a:p xmlns:a="http://schemas.openxmlformats.org/drawingml/2006/main">
            <a:pPr algn="ctr">
              <a:defRPr sz="1050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объект + план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6C6F37-D936-4BD6-AA0F-A21BF86F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381125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35105B"/>
          </a:solidFill>
          <a:ln xmlns:a="http://schemas.openxmlformats.org/drawingml/2006/main" w="9525">
            <a:solidFill>
              <a:srgbClr val="35105B"/>
            </a:solidFill>
          </a:ln>
        </p:spPr>
        <p:txBody xmlns:a="http://schemas.openxmlformats.org/drawingml/2006/main">
          <a:bodyPr/>
          <a:p/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7D9A06-6519-458C-8B41-57CE626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571750"/>
            <a:ext cx="1095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CV WORKER</a:t>
            </a:r>
          </a:p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YOLO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CBD0B7-0F79-49ED-8F8D-60E65E67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2890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4"/>
          </a:solidFill>
          <a:ln xmlns:a="http://schemas.openxmlformats.org/drawingml/2006/main" w="0">
            <a:solidFill>
              <a:srgbClr val="FF0054"/>
            </a:solidFill>
          </a:ln>
        </p:spPr>
        <p:txBody xmlns:a="http://schemas.openxmlformats.org/drawingml/2006/main">
          <a:bodyPr/>
          <a:p/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1B6B71C-02E1-42F6-B26E-39DA3C62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28900"/>
            <a:ext cx="2095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0054"/>
          </a:solidFill>
          <a:ln xmlns:a="http://schemas.openxmlformats.org/drawingml/2006/main" w="0">
            <a:solidFill>
              <a:srgbClr val="FF0054"/>
            </a:solidFill>
          </a:ln>
        </p:spPr>
        <p:txBody xmlns:a="http://schemas.openxmlformats.org/drawingml/2006/main">
          <a:bodyPr/>
          <a:p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5B59D6-CBA0-43BF-A1A0-8C31888A4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05250"/>
            <a:ext cx="2857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7F4FA"/>
          </a:solidFill>
          <a:ln xmlns:a="http://schemas.openxmlformats.org/drawingml/2006/main" w="9525">
            <a:solidFill>
              <a:srgbClr val="E3DDEE"/>
            </a:solidFill>
          </a:ln>
        </p:spPr>
        <p:txBody xmlns:a="http://schemas.openxmlformats.org/drawingml/2006/main">
          <a:bodyPr/>
          <a:p/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AC68AE-1943-475F-873B-DE9210034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576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ПРАВИЛА</a:t>
            </a:r>
          </a:p>
          <a:p xmlns:a="http://schemas.openxmlformats.org/drawingml/2006/main">
            <a:pPr algn="ctr">
              <a:defRPr sz="1125" b="1">
                <a:solidFill>
                  <a:srgbClr val="2A174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A1747"/>
                </a:solidFill>
                <a:latin typeface="Arial"/>
                <a:ea typeface="Arial"/>
                <a:cs typeface="Arial"/>
              </a:rPr>
              <a:t>этап → техника → сигнал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BA1B50-983D-49C3-BD16-3F45B00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200400"/>
            <a:ext cx="0" cy="704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11BBFB-6DE2-45B6-96FA-8FEC31D0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95875"/>
            <a:ext cx="28575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35105B"/>
          </a:solidFill>
          <a:ln xmlns:a="http://schemas.openxmlformats.org/drawingml/2006/main" w="9525">
            <a:solidFill>
              <a:srgbClr val="35105B"/>
            </a:solidFill>
          </a:ln>
        </p:spPr>
        <p:txBody xmlns:a="http://schemas.openxmlformats.org/drawingml/2006/main">
          <a:bodyPr/>
          <a:p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38FC3F-FBD7-4D4F-AFB6-0955F17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48275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ИНСПЕКТОР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подтвердить / отклонить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D8FBEB-F518-4FC3-A5CE-71DD4D42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720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0054"/>
            </a:solidFill>
            <a:prstDash val="solid"/>
          </a:ln>
        </p:spPr>
        <p:txBody xmlns:a="http://schemas.openxmlformats.org/drawingml/2006/main">
          <a:bodyPr/>
          <a:p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2866AF-C5E8-4967-8696-65832389A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4E1A7A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4E1A7A"/>
                </a:solidFill>
                <a:latin typeface="Arial"/>
                <a:ea typeface="Arial"/>
                <a:cs typeface="Arial"/>
              </a:rPr>
              <a:t>ПРИМЕР РАСПОЗНАВАНИЯ ТЕХНИКИ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8e7146ba546d0"/>
          <a:srcRect xmlns:a="http://schemas.openxmlformats.org/drawingml/2006/main" l="0" t="3533" r="0" b="35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6800" y="3543300"/>
            <a:ext cx="4000500" cy="2476500"/>
          </a:xfrm>
          <a:prstGeom xmlns:a="http://schemas.openxmlformats.org/drawingml/2006/main" prst="roundRect">
            <a:avLst>
              <a:gd name="adj" fmla="val 4615"/>
            </a:avLst>
          </a:prstGeom>
        </p:spPr>
      </p:pic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2026-09-28T05:35:34.7710000Z</dcterms:created>
  <dcterms:modified xsi:type="dcterms:W3CDTF">2026-09-28T05:35:34.7710000Z</dcterms:modified>
</coreProperties>
</file>